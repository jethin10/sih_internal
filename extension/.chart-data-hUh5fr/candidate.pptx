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96cc3baed34522" /><Relationship Type="http://schemas.openxmlformats.org/officeDocument/2006/relationships/extended-properties" Target="/docProps/app.xml" Id="R2750d2f40ffc4f52" /><Relationship Type="http://schemas.openxmlformats.org/officeDocument/2006/relationships/officeDocument" Target="/ppt/presentation.xml" Id="R55f55c3cc49947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0962c465bd4ecd"/>
  </p:sldMasterIdLst>
  <p:notesMasterIdLst>
    <p:notesMasterId xmlns:r="http://schemas.openxmlformats.org/officeDocument/2006/relationships" r:id="Rac66979040fa43e5"/>
  </p:notesMasterIdLst>
  <p:sldIdLst>
    <p:sldId xmlns:r="http://schemas.openxmlformats.org/officeDocument/2006/relationships" id="256" r:id="R0cf315c315fc4dec"/>
    <p:sldId xmlns:r="http://schemas.openxmlformats.org/officeDocument/2006/relationships" id="257" r:id="Rdead96296ac8410d"/>
    <p:sldId xmlns:r="http://schemas.openxmlformats.org/officeDocument/2006/relationships" id="258" r:id="Rc1e9d0e824ab4c28"/>
    <p:sldId xmlns:r="http://schemas.openxmlformats.org/officeDocument/2006/relationships" id="259" r:id="R7daee59c22bd478d"/>
    <p:sldId xmlns:r="http://schemas.openxmlformats.org/officeDocument/2006/relationships" id="260" r:id="Rac8524ef1eed4821"/>
    <p:sldId xmlns:r="http://schemas.openxmlformats.org/officeDocument/2006/relationships" id="261" r:id="R8bbbe721ee4e42ce"/>
    <p:sldId xmlns:r="http://schemas.openxmlformats.org/officeDocument/2006/relationships" id="262" r:id="R67e91e3f47744b2a"/>
    <p:sldId xmlns:r="http://schemas.openxmlformats.org/officeDocument/2006/relationships" id="263" r:id="R25816c072a62464f"/>
    <p:sldId xmlns:r="http://schemas.openxmlformats.org/officeDocument/2006/relationships" id="264" r:id="R5298a24a6d5a40b4"/>
    <p:sldId xmlns:r="http://schemas.openxmlformats.org/officeDocument/2006/relationships" id="265" r:id="Rd25e1440cb4c4b24"/>
    <p:sldId xmlns:r="http://schemas.openxmlformats.org/officeDocument/2006/relationships" id="266" r:id="R8e33772fd2ed4f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14bcb3cdb54de0" /><Relationship Type="http://schemas.openxmlformats.org/officeDocument/2006/relationships/slideMaster" Target="/ppt/slideMasters/slideMaster1.xml" Id="R7b0962c465bd4ecd" /><Relationship Type="http://schemas.openxmlformats.org/officeDocument/2006/relationships/notesMaster" Target="/ppt/notesMasters/notesMaster1.xml" Id="Rac66979040fa43e5" /><Relationship Type="http://schemas.openxmlformats.org/officeDocument/2006/relationships/presProps" Target="/ppt/presProps.xml" Id="R8f8bcb23fb2846c8" /><Relationship Type="http://schemas.openxmlformats.org/officeDocument/2006/relationships/tableStyles" Target="/ppt/tableStyles.xml" Id="R384d45a66bb240e8" /><Relationship Type="http://schemas.openxmlformats.org/officeDocument/2006/relationships/slide" Target="/ppt/slides/slide1.xml" Id="R0cf315c315fc4dec" /><Relationship Type="http://schemas.openxmlformats.org/officeDocument/2006/relationships/slide" Target="/ppt/slides/slide2.xml" Id="Rdead96296ac8410d" /><Relationship Type="http://schemas.openxmlformats.org/officeDocument/2006/relationships/slide" Target="/ppt/slides/slide3.xml" Id="Rc1e9d0e824ab4c28" /><Relationship Type="http://schemas.openxmlformats.org/officeDocument/2006/relationships/slide" Target="/ppt/slides/slide4.xml" Id="R7daee59c22bd478d" /><Relationship Type="http://schemas.openxmlformats.org/officeDocument/2006/relationships/slide" Target="/ppt/slides/slide5.xml" Id="Rac8524ef1eed4821" /><Relationship Type="http://schemas.openxmlformats.org/officeDocument/2006/relationships/slide" Target="/ppt/slides/slide6.xml" Id="R8bbbe721ee4e42ce" /><Relationship Type="http://schemas.openxmlformats.org/officeDocument/2006/relationships/slide" Target="/ppt/slides/slide7.xml" Id="R67e91e3f47744b2a" /><Relationship Type="http://schemas.openxmlformats.org/officeDocument/2006/relationships/slide" Target="/ppt/slides/slide8.xml" Id="R25816c072a62464f" /><Relationship Type="http://schemas.openxmlformats.org/officeDocument/2006/relationships/slide" Target="/ppt/slides/slide9.xml" Id="R5298a24a6d5a40b4" /><Relationship Type="http://schemas.openxmlformats.org/officeDocument/2006/relationships/slide" Target="/ppt/slides/slide10.xml" Id="Rd25e1440cb4c4b24" /><Relationship Type="http://schemas.openxmlformats.org/officeDocument/2006/relationships/slide" Target="/ppt/slides/slide11.xml" Id="R8e33772fd2ed4f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68c00e2e0842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21d9257ebe4ed5" /><Relationship Type="http://schemas.openxmlformats.org/officeDocument/2006/relationships/notesMaster" Target="/ppt/notesMasters/notesMaster1.xml" Id="R08335caf374c41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603a0ba60d4952" /><Relationship Type="http://schemas.openxmlformats.org/officeDocument/2006/relationships/notesMaster" Target="/ppt/notesMasters/notesMaster1.xml" Id="R671aea0eea4a41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d9c1716005482a" /><Relationship Type="http://schemas.openxmlformats.org/officeDocument/2006/relationships/notesMaster" Target="/ppt/notesMasters/notesMaster1.xml" Id="R9a18ef78e17241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fedfb1f9a543f5" /><Relationship Type="http://schemas.openxmlformats.org/officeDocument/2006/relationships/notesMaster" Target="/ppt/notesMasters/notesMaster1.xml" Id="R20485d825c2745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0ebb0530644436" /><Relationship Type="http://schemas.openxmlformats.org/officeDocument/2006/relationships/notesMaster" Target="/ppt/notesMasters/notesMaster1.xml" Id="Rb76089d554a84f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79e40ca6f9481e" /><Relationship Type="http://schemas.openxmlformats.org/officeDocument/2006/relationships/notesMaster" Target="/ppt/notesMasters/notesMaster1.xml" Id="R0dd88124a22f44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7bf027e5794c72" /><Relationship Type="http://schemas.openxmlformats.org/officeDocument/2006/relationships/notesMaster" Target="/ppt/notesMasters/notesMaster1.xml" Id="R5e2c0f24bc4b4b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25dddfb8b54f7e" /><Relationship Type="http://schemas.openxmlformats.org/officeDocument/2006/relationships/notesMaster" Target="/ppt/notesMasters/notesMaster1.xml" Id="Rf5f11119239349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f361e0d7c514434" /><Relationship Type="http://schemas.openxmlformats.org/officeDocument/2006/relationships/notesMaster" Target="/ppt/notesMasters/notesMaster1.xml" Id="Redf8824a411c42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6eed25e02164f93" /><Relationship Type="http://schemas.openxmlformats.org/officeDocument/2006/relationships/notesMaster" Target="/ppt/notesMasters/notesMaster1.xml" Id="R0ae7f37aa6174d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8ae8cc9718340e6" /><Relationship Type="http://schemas.openxmlformats.org/officeDocument/2006/relationships/notesMaster" Target="/ppt/notesMasters/notesMaster1.xml" Id="R1af0f89be0d147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problem statement, then move directly to the live product. Product source: extension/README.md.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problem as excessive observation plus excessive execution authority. Avoid claiming every current agent behaves identically.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claim on this slide maps to shipped code in content/, background/, visual/ and sidepanel/.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evidence: background/service-worker.js, content/content-script.js, server/server.js and visual/offscreen.js.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displayed token is explanatory; the implementation uses uppercase hexadecimal without spaces. Evidence: lib/pii.js and background/service-worker.js.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generated by scripts/capture-product-ui.js from the running extension. Controlled result: 3 of 3 labelled Canvas targets recovered and 100% of OCR-detected sensitive lines masked. Source: artifacts/evaluation-report.json.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both outcomes: block Submit order, then repeat and allow once. Evidence: tests/cdp-smoke.js.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artifacts/evaluation-report.json generated on 4 September 2026. Chart unit: percentage points of context-byte reduction. Synthetic/local results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release gates passed in the latest npm run evaluate. Source: artifacts/EVALUATION-SUMMARY.md.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detailed overlapping responsibility map is in TEAM-RESPONSIBILITIES.md. These groups describe knowledge ownership rather than hierarchy.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live demo. Do not describe this as production ready. Use DEMO.md for the six-minute sequence and recovery options.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18195bd0f24b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fa5f83694147be" /><Relationship Type="http://schemas.openxmlformats.org/officeDocument/2006/relationships/slideLayout" Target="/ppt/slideLayouts/slideLayout1.xml" Id="R005e20f2e78d4c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5e20f2e78d4c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88f57babf49e1" /><Relationship Type="http://schemas.openxmlformats.org/officeDocument/2006/relationships/notesSlide" Target="/ppt/notesSlides/notesSlide1.xml" Id="R7ce075755e0140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6dcaaa1c84a2d" /><Relationship Type="http://schemas.openxmlformats.org/officeDocument/2006/relationships/notesSlide" Target="/ppt/notesSlides/notesSlide2.xml" Id="Rec33209ecd2f4c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459f6d26464990" /><Relationship Type="http://schemas.openxmlformats.org/officeDocument/2006/relationships/notesSlide" Target="/ppt/notesSlides/notesSlide3.xml" Id="Rc9aadb1617884e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a236e57484a2f" /><Relationship Type="http://schemas.openxmlformats.org/officeDocument/2006/relationships/notesSlide" Target="/ppt/notesSlides/notesSlide4.xml" Id="R17bd6135237e40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702f0a319a4168" /><Relationship Type="http://schemas.openxmlformats.org/officeDocument/2006/relationships/notesSlide" Target="/ppt/notesSlides/notesSlide5.xml" Id="R2793719f87914c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d08229b0914478" /><Relationship Type="http://schemas.openxmlformats.org/officeDocument/2006/relationships/image" Target="/ppt/media/image.png" Id="Rfc83a61aa1da4dc5" /><Relationship Type="http://schemas.openxmlformats.org/officeDocument/2006/relationships/notesSlide" Target="/ppt/notesSlides/notesSlide6.xml" Id="R3ccd7dc7fcda40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a3912cb5944fe" /><Relationship Type="http://schemas.openxmlformats.org/officeDocument/2006/relationships/notesSlide" Target="/ppt/notesSlides/notesSlide7.xml" Id="R26702f29f5114b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c5e92b64354594" /><Relationship Type="http://schemas.openxmlformats.org/officeDocument/2006/relationships/chart" Target="/ppt/slides/charts/chart1.xml" Id="R424c5444ff434c96" /><Relationship Type="http://schemas.openxmlformats.org/officeDocument/2006/relationships/notesSlide" Target="/ppt/notesSlides/notesSlide8.xml" Id="R2ae1787850ac4e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ff1ba34f86409f" /><Relationship Type="http://schemas.openxmlformats.org/officeDocument/2006/relationships/notesSlide" Target="/ppt/notesSlides/notesSlide9.xml" Id="R333bf1de7b574b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c08a97213459d" /><Relationship Type="http://schemas.openxmlformats.org/officeDocument/2006/relationships/notesSlide" Target="/ppt/notesSlides/notesSlide10.xml" Id="R25bcfec7473441e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760c006fb46eb" /><Relationship Type="http://schemas.openxmlformats.org/officeDocument/2006/relationships/notesSlide" Target="/ppt/notesSlides/notesSlide11.xml" Id="Rfd3d83c70b0f445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Context reduction (%)</c:v>
          </c:tx>
          <c:spPr>
            <a:solidFill xmlns:a="http://schemas.openxmlformats.org/drawingml/2006/main">
              <a:srgbClr val="315CF5"/>
            </a:solidFill>
          </c:spPr>
          <c:cat>
            <c:strRef>
              <c:f>'Chart Data'!$A$2:$A$5</c:f>
              <c:strCache>
                <c:ptCount val="4"/>
                <c:pt idx="0">
                  <c:v>1k</c:v>
                </c:pt>
                <c:pt idx="1">
                  <c:v>5k</c:v>
                </c:pt>
                <c:pt idx="2">
                  <c:v>10k</c:v>
                </c:pt>
                <c:pt idx="3">
                  <c:v>20k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52.7</c:v>
                </c:pt>
                <c:pt idx="1">
                  <c:v>90.6</c:v>
                </c:pt>
                <c:pt idx="2">
                  <c:v>95.3</c:v>
                </c:pt>
                <c:pt idx="3">
                  <c:v>97.7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19E853-FF5E-4485-B69C-14BB9027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95250" cy="470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7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E6CB9-66D0-46E5-BCA5-F3168919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STRAW HATS  /  SIH 26171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F4F62A-A39B-4CED-834A-AD5497A6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85900"/>
            <a:ext cx="857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Privacy Gateway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Browser Agents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5CC4F2-B2FD-4D9A-96C9-69DC6481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67125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A local boundary between what an AI model can request and what a browser may disclose or execute.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62060E-B663-40F0-8170-157F687A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EA0B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EA0B0"/>
                </a:solidFill>
                <a:latin typeface="Arial"/>
                <a:ea typeface="Arial"/>
                <a:cs typeface="Arial"/>
              </a:rPr>
              <a:t>Internal hackathon presentation  ·  September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BDA6A-1AB6-47B0-8B49-2AB08E01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162050"/>
            <a:ext cx="13811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315CF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CFFDD7-753F-4DDC-9D9D-CE830042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485900"/>
            <a:ext cx="1028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 raw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 test</a:t>
            </a:r>
          </a:p>
        </p:txBody>
      </p:sp>
    </p:spTree>
    <p:extLst>
      <p:ext uri="{BB962C8B-B14F-4D97-AF65-F5344CB8AC3E}">
        <p14:creationId xmlns:p14="http://schemas.microsoft.com/office/powerpoint/2010/main" val="2157525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AD8EE-F3B1-4B92-90F2-04186CB7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The browser-agent privacy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15F77B-2F78-4D66-8833-561A22C3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4B2C9-8A11-45F0-9419-DA869048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91937-7109-4BA2-B54E-1922B0D9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Most agent loops combine two broad powers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9F28C4-81CE-4BD6-B82E-D195AD8F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63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4423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C44236"/>
                </a:solidFill>
                <a:latin typeface="Arial"/>
                <a:ea typeface="Arial"/>
                <a:cs typeface="Arial"/>
              </a:rPr>
              <a:t>SEE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697554-EBF2-499A-A505-06B1442B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Full DOM text</a:t>
            </a:r>
          </a:p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Form values</a:t>
            </a:r>
          </a:p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Screenshots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7AE17-3C76-4EA6-8D18-FBCB042B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E563F-0509-4BAA-B079-EE332C93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669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63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4423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C44236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708492-6431-46A3-BB7C-FB9812E1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Click controls</a:t>
            </a:r>
          </a:p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Fill fields</a:t>
            </a:r>
          </a:p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Submit forms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6DB4DF-38BE-41A2-B603-66451CF7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2667000" cy="3429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B172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86E046-5F5C-461E-8091-AFFB9612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002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7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The missing layer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B7809A-DD0F-4738-BB79-E5EEE115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647950"/>
            <a:ext cx="1952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442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local policy boundary that minimizes context before reasoning and validates every proposed action before execution.</a:t>
            </a:r>
          </a:p>
        </p:txBody>
      </p:sp>
    </p:spTree>
    <p:extLst>
      <p:ext uri="{BB962C8B-B14F-4D97-AF65-F5344CB8AC3E}">
        <p14:creationId xmlns:p14="http://schemas.microsoft.com/office/powerpoint/2010/main" val="1476825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E3853E-9D54-4560-9B7E-1D6C65DA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The product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8CA444-223C-4E99-B3D4-E00EA5CA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D2D72-B077-423D-9246-0487E4A0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6616CE-44B3-4747-B7A1-25BD72F5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The model proposes. The gateway decides.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D9E69F-85A0-4073-864A-AF4764D7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1FC6ED-1A77-4721-9B8A-F2B77241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05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671F81-7774-4AE9-BF42-9368A40C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860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Build a local privacy graph from DOM, ARIA, forms, frames and visible OCR.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9DC8BD-227B-4A25-9F9B-825386BD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33700"/>
            <a:ext cx="947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D63470-6EE8-42D0-B835-D9202354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3E5CAA-0611-4D7C-91F2-FB13F3B1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81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DISCLOSURE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1C9192-0148-4EB2-9398-6C1549F4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623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Replace private values with random task aliases and inspect the complete outbound payload.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D5354D-A03F-4D1B-8772-D2FD1339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10000"/>
            <a:ext cx="947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4172CA-E7F8-4242-B338-78DDC436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DE01CE-E746-481E-997B-842B96DB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57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EXECUTION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5029C8-73E9-4E3B-9C6C-6E9542C1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386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Revalidate target, version, field type, task scope and risk before any browser action.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6240C9-3941-471D-BD51-4790FDC7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86300"/>
            <a:ext cx="947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BD4797-D93D-4583-BF3B-C80F139F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339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F79757-53BA-48DD-8541-4E0E5121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33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46B908-722A-4F7A-B5D4-923FFD11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149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Show masks, egress state, timing and local receipts inside the side panel.</a:t>
            </a:r>
          </a:p>
        </p:txBody>
      </p:sp>
    </p:spTree>
    <p:extLst>
      <p:ext uri="{BB962C8B-B14F-4D97-AF65-F5344CB8AC3E}">
        <p14:creationId xmlns:p14="http://schemas.microsoft.com/office/powerpoint/2010/main" val="688096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43CC8C-1A4D-4F32-9008-E2E63B65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28EC01-090A-4A1B-8687-A6BA5DFF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EA0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EA0B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D10BB-84B1-41F5-81D8-E5F10E13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1D2E5A-2526-4C59-B8A5-D6549221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62536"/>
          </a:solidFill>
          <a:ln xmlns:a="http://schemas.openxmlformats.org/drawingml/2006/main" w="9525">
            <a:solidFill>
              <a:srgbClr val="31445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1F25E0-C0E4-4135-87F5-D5CFDCC0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WEB PAGE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769CC6-EB4A-48B5-A822-A2DC8DA4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163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DOM · ARIA</a:t>
            </a:r>
          </a:p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forms · frames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0AB8AC-F90E-442F-A01A-840687BF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718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5D7B92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5D7B92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1862FE-4479-4181-A435-0F1C7F2F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38375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E3B"/>
          </a:solidFill>
          <a:ln xmlns:a="http://schemas.openxmlformats.org/drawingml/2006/main" w="9525">
            <a:solidFill>
              <a:srgbClr val="31445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62813B-839D-44B6-85DF-526D5438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717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5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LOCAL GATEWAY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C126C4-3C9B-4008-A2D7-CE2F2CAB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43250"/>
            <a:ext cx="163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privacy graph</a:t>
            </a:r>
          </a:p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PII policy · vault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44EE0E-056B-4CA5-AECB-8873206E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718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5D7B92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5D7B92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723600-FB96-4FB3-A15A-523B8391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38375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62536"/>
          </a:solidFill>
          <a:ln xmlns:a="http://schemas.openxmlformats.org/drawingml/2006/main" w="9525">
            <a:solidFill>
              <a:srgbClr val="31445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B6C16D-A0CF-4A4C-BAC2-F9A69DD3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SAFE PLANNER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925F3E-8ABE-4CEE-9FB1-1E158FBF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43250"/>
            <a:ext cx="163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88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local server or</a:t>
            </a:r>
          </a:p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HTTPS endpoint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FFAEA0-870A-4FAB-9FA6-8C4E7A08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718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5D7B92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5D7B92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3DFD9B-2E5B-4E63-81A5-098A2A08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38375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E3B"/>
          </a:solidFill>
          <a:ln xmlns:a="http://schemas.openxmlformats.org/drawingml/2006/main" w="9525">
            <a:solidFill>
              <a:srgbClr val="31445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1C6417-A7B4-4CDA-B106-67022A02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71750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4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LOCAL FIREWALL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060CE0-7085-49FD-8507-BD21C331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43250"/>
            <a:ext cx="163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12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scope · version</a:t>
            </a:r>
          </a:p>
          <a:p xmlns:a="http://schemas.openxmlformats.org/drawingml/2006/main">
            <a:pPr algn="l">
              <a:defRPr sz="1575" b="0">
                <a:solidFill>
                  <a:srgbClr val="C9D2D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2DA"/>
                </a:solidFill>
                <a:latin typeface="Arial"/>
                <a:ea typeface="Arial"/>
                <a:cs typeface="Arial"/>
              </a:rPr>
              <a:t>risk · confirmation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D16FEB-529B-41AB-8C88-9687DF2E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10125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08F7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AB99E6-676C-4A3B-808F-920552A6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953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RAW VALUES STAY HERE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3A3610-2CAB-45A9-948F-94C9E1DD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669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EA0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EA0B0"/>
                </a:solidFill>
                <a:latin typeface="Arial"/>
                <a:ea typeface="Arial"/>
                <a:cs typeface="Arial"/>
              </a:rPr>
              <a:t>safe 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F69255-B9C7-4F0F-814D-F6AFFE68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8669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EA0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EA0B0"/>
                </a:solidFill>
                <a:latin typeface="Arial"/>
                <a:ea typeface="Arial"/>
                <a:cs typeface="Arial"/>
              </a:rPr>
              <a:t>structured action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D1A5B1-8F6C-4B46-8782-67743D7E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197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01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Only validated actions reach the page</a:t>
            </a:r>
          </a:p>
        </p:txBody>
      </p:sp>
    </p:spTree>
    <p:extLst>
      <p:ext uri="{BB962C8B-B14F-4D97-AF65-F5344CB8AC3E}">
        <p14:creationId xmlns:p14="http://schemas.microsoft.com/office/powerpoint/2010/main" val="13876388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07601C-6898-43E7-8515-91202889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Privacy graph and private capabilities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3B53B1-7E5F-4E23-8B2F-635354F5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76349-4469-47D1-A099-23412C55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8AFBF5-E493-4F7C-8EC5-D840B8AC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Raw page 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314B0B-58D3-44F4-96B8-8FBD5DCB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442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44236"/>
                </a:solidFill>
                <a:latin typeface="Arial"/>
                <a:ea typeface="Arial"/>
                <a:cs typeface="Arial"/>
              </a:rPr>
              <a:t>test.user@example.com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FBD07F-9C6B-4B7B-A80D-E6D7A086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Local tokenization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C5831F-42AC-4369-9D19-F89A92BB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&lt;EMAIL: 96-bit random ID&gt;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55238D-704B-4094-A867-241C5CDC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4780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D800EC-A73E-46D0-A125-DD3AF9B7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240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Every graph node carries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31475C-9D9B-45CA-ACD9-FE88F77B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431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semantic identity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E7E958-ABB5-4405-81D2-F029EDFC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43125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64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Stable target ID, role, label and field 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A128A7-BC76-4509-9A02-BC20B820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241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freshness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02D443-8B36-47B0-9C95-EDE64DF2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24175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Content hash, mutation epoch and positive version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8E5B6C-536E-40D7-98DC-E364EF8F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052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disclosure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E38472-76F9-4CE2-BF00-0697DCF9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05225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64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KEEP, TOKENIZE, DROP or BLOCK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2995BE-A22C-43E8-AE15-64094356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862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execution limits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424C47-032E-4FFE-A0DD-E1EAC9F4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86275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Origin, task, destination field, expiry and use count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DF4453-3EAE-4E73-A0C8-0DD922FD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Aliases rotate with every task and origin change.</a:t>
            </a:r>
          </a:p>
        </p:txBody>
      </p:sp>
    </p:spTree>
    <p:extLst>
      <p:ext uri="{BB962C8B-B14F-4D97-AF65-F5344CB8AC3E}">
        <p14:creationId xmlns:p14="http://schemas.microsoft.com/office/powerpoint/2010/main" val="18676148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57B742-F0B4-4EA5-AA13-FD4782F7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Local visual redaction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2F6139-BDE1-42D0-B1D0-1129F479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C980BB-2DB6-4D7B-A736-8F253B69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83a61aa1da4dc5"/>
          <a:stretch xmlns:a="http://schemas.openxmlformats.org/drawingml/2006/main"/>
        </p:blipFill>
        <p:spPr>
          <a:xfrm xmlns:a="http://schemas.openxmlformats.org/drawingml/2006/main">
            <a:off x="1849239" y="1257300"/>
            <a:ext cx="1826022" cy="5095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051EEE-7201-4F0C-80BD-22F23A0C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66850"/>
            <a:ext cx="571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47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Canvas text becomes usable without sending pixels to the planner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7D398A-C0AB-4D7B-B168-7A2881E2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860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49B97-7779-46E1-B767-CC8CD933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860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Capture the visible tab locally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DC9BC6-BD38-40B9-9A2D-70ED7AEF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956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FDEB0B-F20A-46E6-B2A1-3751D012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956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Run bundled Tesseract OCR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BB7B92-D560-4E4E-840D-FB1D51B7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052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834D23-162E-4194-BB9E-1B9DBC12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052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Tokenize detected private 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41FF40-665F-47C7-8960-EAE6C879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148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7AF766-9138-4F89-9F3E-2A51C536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148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Paint masks into a local preview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5E4EA0-7FFC-4646-B664-5FE1D90B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1244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77BA16-566E-45C2-9813-A8759DF4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1244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Require pixel freshness before visual clicks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872C43-DC15-41CE-881E-FDCF1D9A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81025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2 sensitive regions masked in the controlled fixture</a:t>
            </a:r>
          </a:p>
        </p:txBody>
      </p:sp>
    </p:spTree>
    <p:extLst>
      <p:ext uri="{BB962C8B-B14F-4D97-AF65-F5344CB8AC3E}">
        <p14:creationId xmlns:p14="http://schemas.microsoft.com/office/powerpoint/2010/main" val="2646449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C6860E-73BE-4802-9D06-9B828A81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Local action firewall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7D09ED-78B8-416E-8C5F-9754F2DB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87BD0-B0FE-445C-89D1-5E500DCD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A2DC1-0943-4025-9B8F-D71D1351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477F85-34AE-443A-A307-A8D8D9FD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2286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8575A6-B50B-4BFA-A4A3-E647A983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38125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PROPOSE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D8D8D-54F8-4D48-A379-8D037972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93370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99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Planner returns one structured 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3124B8-82F6-413C-AA1A-E139412E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05100"/>
            <a:ext cx="495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C66702-2AF9-4F5D-B816-8D9DA4C1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619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D41F11-72D0-4827-ACA0-C89894D0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095500"/>
            <a:ext cx="2286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AB2DA4-A1EE-48EE-96D2-A1C7BAD6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38125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REVALIDATE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911341-D12A-43BA-957F-E3EE40BC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93370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99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Target, version, task scope and origin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73B0FC-A7AD-47EF-9D97-F50F1580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705100"/>
            <a:ext cx="495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948105-8610-414A-816D-3DE00BDE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619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D90161-5239-4728-B5B7-F2EE91D0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095500"/>
            <a:ext cx="2286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E7C27F-4B77-4DD7-9422-C7783AB7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38125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64BA30-D666-40E0-BC54-BD67B2DE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93370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38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Field compatibility and side-effect 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42F020-8BE8-43D5-ABA2-CBD5F108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705100"/>
            <a:ext cx="495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112781-1062-42EA-98FB-4EA2DA06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619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CE273D-F178-4ED6-BAB8-DF5D7C52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095500"/>
            <a:ext cx="2286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0B1725"/>
          </a:solidFill>
          <a:ln xmlns:a="http://schemas.openxmlformats.org/drawingml/2006/main" w="9525">
            <a:solidFill>
              <a:srgbClr val="0B172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2C3D2A-8541-40B4-A7BD-5CDB8B65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8125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A0CD73-F432-42FA-8499-102AE2F8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93370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7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Execute, block or request allow-once confirmation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117AA0-4A5E-4B71-8A7D-8629F2EE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62500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3959CB-0127-4E3F-9EA1-5E4D27F2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Navigation clears stale visual state and pending confirmation. Origin changes also rotate every private capability.</a:t>
            </a:r>
          </a:p>
        </p:txBody>
      </p:sp>
    </p:spTree>
    <p:extLst>
      <p:ext uri="{BB962C8B-B14F-4D97-AF65-F5344CB8AC3E}">
        <p14:creationId xmlns:p14="http://schemas.microsoft.com/office/powerpoint/2010/main" val="5139043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55A356-F154-4E55-AAD3-4A26B5DF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Measured results on the presentation machine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CD2C5-FD95-4770-A957-E9D759BD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296549-BFCA-48B2-B2A3-7E3D32A5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19125" y="1571625"/>
          <a:ext xmlns:a="http://schemas.openxmlformats.org/drawingml/2006/main" cx="5810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24c5444ff434c9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6EE567-65B9-4676-9E5B-EF705A7F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Context reduction by generated page size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B8FFE9-1A4D-40C1-992E-54430908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66875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1,254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60228-ECDE-4222-973B-86D02900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9552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synthetic PII cases</a:t>
            </a:r>
          </a:p>
          <a:p xmlns:a="http://schemas.openxmlformats.org/drawingml/2006/main">
            <a:pPr algn="l">
              <a:defRPr sz="1500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0 FP · 0 FN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60007F-3D4E-47F2-81D0-587807FB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90875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12.36 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58EDC0-33D9-451D-BA0F-EAC43A73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814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worst warm p95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E45C24-3384-425F-920F-C4ABF79A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4342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4.02 MB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B92C11-94D9-4D55-802E-D18CD916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435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graph estimate at 20k nodes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B840AF-1B96-45B8-B809-83662D64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626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Controlled local fixtures. Full limitations appear in the generated evaluation report.</a:t>
            </a:r>
          </a:p>
        </p:txBody>
      </p:sp>
    </p:spTree>
    <p:extLst>
      <p:ext uri="{BB962C8B-B14F-4D97-AF65-F5344CB8AC3E}">
        <p14:creationId xmlns:p14="http://schemas.microsoft.com/office/powerpoint/2010/main" val="11085920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98D9E4-9410-492C-96E8-BE8DA8F1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Adversarial release 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10907-B10F-428C-9DE5-135A97D5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8EA0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EA0B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81132-728B-4733-8F94-A83A9F8D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4D3F5-0BC3-45B0-B576-FD4AE639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RAW PII EGRESS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8A5294-2D86-4F3F-A957-D585F44C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668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Known canaries reached the mock provider only after tokenization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37F358-2127-479E-88A8-175BCE1E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4859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14F5B8-3DF0-4576-9DB6-DEC32EE6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744D6E-2A37-49F8-BB42-A8CAC097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TASK 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B92372-D31B-4FB2-9271-2A97FFA7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622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 unrelated submit action proposed by the provider was blocked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FD17F0-F6A4-440B-A7E3-B4EB313C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812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DA6011-DB92-4EE6-82DE-61B6720F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7D0B6D-3D79-4B8F-97DE-B60449D5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CROSS ORIGIN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10B0F4-D9F5-4CDF-B41A-A27F091F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private capability could not fill a field in another frame origin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8F29B4-0498-40C0-ABA3-BB0D19BA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766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677472-D6C1-47D9-807F-73BD77F9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65C06B-5D51-4BA5-B66E-1A422980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VISUAL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06DC75-4040-4265-9560-2A1844DB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529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Block and allow-once paths both preserved pixel freshness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24D341-A690-422E-A509-B129B7C7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719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DF8843-A1D8-46C2-9027-AB9DD0D9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A4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BBC180-2567-4A15-AFB3-52BC37C9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LARGE PAGE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79D3F3-5283-4AE0-8C7D-949AEE76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482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Complete graphs through 20,000 generated nodes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F2ECA2-165D-4744-B844-7ADD44FE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0673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0D7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0D7C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</p:spTree>
    <p:extLst>
      <p:ext uri="{BB962C8B-B14F-4D97-AF65-F5344CB8AC3E}">
        <p14:creationId xmlns:p14="http://schemas.microsoft.com/office/powerpoint/2010/main" val="21095419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82A174-CA30-422D-963F-86342C7D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Team knowledge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5E6158-C7AB-4F29-90DA-CAFA6762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F4364-676B-48C4-BF9B-AA1EAC28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9F7D3-E0B8-4A4D-8563-000D9049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PRODUCT + EXECUTION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8DD3DC-4C65-418E-A640-193F0752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Jethin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Shubhangi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Ishu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EAEE34-AA2C-4432-AB65-E6AA5D15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801084-CC04-48EB-A52F-303B56AA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Side panel, demo flow, action schema, confirmation and browser execution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8095F-E9C5-4BA8-B91B-D95A5737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716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15CF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15CF5"/>
                </a:solidFill>
                <a:latin typeface="Arial"/>
                <a:ea typeface="Arial"/>
                <a:cs typeface="Arial"/>
              </a:rPr>
              <a:t>PRIVACY + SERVER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376764-34FA-4BD5-A91A-84191F62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43125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Divyam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Maan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Jethin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8BC6C7-D88A-4FBF-9F05-A759FDC7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147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92E5F2-EF7E-4CC6-B6C4-298A6980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19550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PII pipeline, aliases, egress barrier, local planner and provider security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336243-CA1C-491C-AE3A-94B8A806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716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VISION +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A73321-BD67-405E-BD09-9F7A3274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43125"/>
            <a:ext cx="285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Shreya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Ishu</a:t>
            </a:r>
          </a:p>
          <a:p xmlns:a="http://schemas.openxmlformats.org/drawingml/2006/main">
            <a:pPr algn="l">
              <a:defRPr sz="240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Maan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D282D0-C512-4FE0-8063-65BB31CE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373E50-6B85-4F40-9611-BD065E0A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19550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17B"/>
                </a:solidFill>
                <a:latin typeface="Arial"/>
                <a:ea typeface="Arial"/>
                <a:cs typeface="Arial"/>
              </a:rPr>
              <a:t>OCR, visual masks, test harness, five SIH metrics and presentation recovery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86AE31-2C41-4FC8-A4E9-20B838DC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Every technical area has three people. Every member appears in more than one area.</a:t>
            </a:r>
          </a:p>
        </p:txBody>
      </p:sp>
    </p:spTree>
    <p:extLst>
      <p:ext uri="{BB962C8B-B14F-4D97-AF65-F5344CB8AC3E}">
        <p14:creationId xmlns:p14="http://schemas.microsoft.com/office/powerpoint/2010/main" val="10458232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E14E8A-FAB7-4257-9E22-85B2755A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Current product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032306-72FC-48DB-8186-52644F31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17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D3BEBB-5442-468F-B594-BE41568D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A1827C-AD1B-4DBB-80AD-44188520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8F7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F7A"/>
                </a:solidFill>
                <a:latin typeface="Arial"/>
                <a:ea typeface="Arial"/>
                <a:cs typeface="Arial"/>
              </a:rPr>
              <a:t>Ready to demonstrate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DF3CFC-CCFE-47F6-A736-FC602E74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Chrome extension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Local planner server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On-device OCR and masks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Strict egress and action controls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Reproducible evaluation and release ZIP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A94AA-E219-4FFC-9236-97AB12F2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81125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2289BE-2F29-47B2-8F8D-F1433D84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04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442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44236"/>
                </a:solidFill>
                <a:latin typeface="Arial"/>
                <a:ea typeface="Arial"/>
                <a:cs typeface="Arial"/>
              </a:rPr>
              <a:t>Still research or production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FB1DBF-61CA-40DE-89BD-FDA2F0D3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43125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Broad real-world PII and vision benchmarks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Firefox packaging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Privileged browser surfaces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Enterprise administration</a:t>
            </a:r>
          </a:p>
          <a:p xmlns:a="http://schemas.openxmlformats.org/drawingml/2006/main">
            <a:pPr algn="l">
              <a:defRPr sz="1950" b="1">
                <a:solidFill>
                  <a:srgbClr val="1422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231"/>
                </a:solidFill>
                <a:latin typeface="Arial"/>
                <a:ea typeface="Arial"/>
                <a:cs typeface="Arial"/>
              </a:rPr>
              <a:t>Independent security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52D863-53D6-421E-A866-8F78E1EB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572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172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AE0E88-2946-4D79-831D-1B08702C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245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LIVE DEMO  ·  Inspect page  /  Fill private value  /  Mask Canvas PII  /  Block and allow action</a:t>
            </a:r>
          </a:p>
        </p:txBody>
      </p:sp>
    </p:spTree>
    <p:extLst>
      <p:ext uri="{BB962C8B-B14F-4D97-AF65-F5344CB8AC3E}">
        <p14:creationId xmlns:p14="http://schemas.microsoft.com/office/powerpoint/2010/main" val="3269922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2026-09-04T11:07:53.5960000Z</dcterms:created>
  <dcterms:modified xsi:type="dcterms:W3CDTF">2026-09-04T11:07:53.5960000Z</dcterms:modified>
</coreProperties>
</file>